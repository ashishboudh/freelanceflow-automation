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1675"/>
  <p:notesSz cx="6858000" cy="12191675"/>
  <p:embeddedFontLst>
    <p:embeddedFont>
      <p:font typeface="Raleway"/>
      <p:regular r:id="rId15"/>
      <p:bold r:id="rId16"/>
      <p:italic r:id="rId17"/>
      <p:boldItalic r:id="rId18"/>
    </p:embeddedFont>
    <p:embeddedFont>
      <p:font typeface="Robo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11" Type="http://schemas.openxmlformats.org/officeDocument/2006/relationships/slide" Target="slides/slide7.xml"/><Relationship Id="rId22" Type="http://schemas.openxmlformats.org/officeDocument/2006/relationships/font" Target="fonts/Roboto-boldItalic.fntdata"/><Relationship Id="rId10" Type="http://schemas.openxmlformats.org/officeDocument/2006/relationships/slide" Target="slides/slide6.xml"/><Relationship Id="rId21" Type="http://schemas.openxmlformats.org/officeDocument/2006/relationships/font" Target="fonts/Roboto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aleway-regular.fntdata"/><Relationship Id="rId14" Type="http://schemas.openxmlformats.org/officeDocument/2006/relationships/slide" Target="slides/slide10.xml"/><Relationship Id="rId17" Type="http://schemas.openxmlformats.org/officeDocument/2006/relationships/font" Target="fonts/Raleway-italic.fntdata"/><Relationship Id="rId16" Type="http://schemas.openxmlformats.org/officeDocument/2006/relationships/font" Target="fonts/Raleway-bold.fntdata"/><Relationship Id="rId5" Type="http://schemas.openxmlformats.org/officeDocument/2006/relationships/slide" Target="slides/slide1.xml"/><Relationship Id="rId19" Type="http://schemas.openxmlformats.org/officeDocument/2006/relationships/font" Target="fonts/Roboto-regular.fntdata"/><Relationship Id="rId6" Type="http://schemas.openxmlformats.org/officeDocument/2006/relationships/slide" Target="slides/slide2.xml"/><Relationship Id="rId18" Type="http://schemas.openxmlformats.org/officeDocument/2006/relationships/font" Target="fonts/Raleway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76875" y="65589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Relationship Id="rId4" Type="http://schemas.openxmlformats.org/officeDocument/2006/relationships/image" Target="../media/image8.png"/><Relationship Id="rId5" Type="http://schemas.openxmlformats.org/officeDocument/2006/relationships/image" Target="../media/image9.jp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10" Type="http://schemas.openxmlformats.org/officeDocument/2006/relationships/image" Target="../media/image19.png"/><Relationship Id="rId9" Type="http://schemas.openxmlformats.org/officeDocument/2006/relationships/image" Target="../media/image20.png"/><Relationship Id="rId5" Type="http://schemas.openxmlformats.org/officeDocument/2006/relationships/image" Target="../media/image14.png"/><Relationship Id="rId6" Type="http://schemas.openxmlformats.org/officeDocument/2006/relationships/image" Target="../media/image17.png"/><Relationship Id="rId7" Type="http://schemas.openxmlformats.org/officeDocument/2006/relationships/image" Target="../media/image16.png"/><Relationship Id="rId8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" name="Google Shape;2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8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/>
          <p:nvPr/>
        </p:nvSpPr>
        <p:spPr>
          <a:xfrm>
            <a:off x="5233360" y="1997869"/>
            <a:ext cx="3296461" cy="287139"/>
          </a:xfrm>
          <a:prstGeom prst="roundRect">
            <a:avLst>
              <a:gd fmla="val 22118" name="adj"/>
            </a:avLst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5346765" y="2054523"/>
            <a:ext cx="3679237" cy="173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50"/>
              <a:buFont typeface="Roboto"/>
              <a:buNone/>
            </a:pPr>
            <a:r>
              <a:rPr b="0" i="0" lang="en-US" sz="11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SUMMER INTERNSHIP PROJECT · IIT JAMMU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5233360" y="2360613"/>
            <a:ext cx="6296860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700"/>
              <a:buFont typeface="Raleway"/>
              <a:buNone/>
            </a:pPr>
            <a:r>
              <a:rPr b="0" i="0" lang="en-US" sz="37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FreelanceFlow AI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5233360" y="3026866"/>
            <a:ext cx="6296860" cy="944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950"/>
              <a:buFont typeface="Raleway"/>
              <a:buNone/>
            </a:pPr>
            <a:r>
              <a:rPr b="0" i="0" lang="en-US" sz="29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AI-Powered Freelancing Business Automation Platform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5233360" y="4255294"/>
            <a:ext cx="6296860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Presented by </a:t>
            </a:r>
            <a:r>
              <a:rPr b="1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Ashish Kumar</a:t>
            </a: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· B.Tech Computer Science Engineering (AI &amp; ML)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10959325" y="6527350"/>
            <a:ext cx="1171800" cy="287100"/>
          </a:xfrm>
          <a:prstGeom prst="rect">
            <a:avLst/>
          </a:prstGeom>
          <a:solidFill>
            <a:srgbClr val="FEFE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661475" y="610890"/>
            <a:ext cx="1352913" cy="215305"/>
          </a:xfrm>
          <a:prstGeom prst="roundRect">
            <a:avLst>
              <a:gd fmla="val 22123" name="adj"/>
            </a:avLst>
          </a:prstGeom>
          <a:noFill/>
          <a:ln cap="flat" cmpd="sng" w="9525">
            <a:solidFill>
              <a:srgbClr val="1B1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5"/>
          <p:cNvSpPr/>
          <p:nvPr/>
        </p:nvSpPr>
        <p:spPr>
          <a:xfrm>
            <a:off x="746503" y="653355"/>
            <a:ext cx="1792441" cy="130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850"/>
              <a:buFont typeface="Roboto"/>
              <a:buNone/>
            </a:pPr>
            <a:r>
              <a:rPr b="0" i="0" lang="en-US" sz="850" u="none" cap="none" strike="noStrike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PROBLEM STATEMENT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661475" y="868660"/>
            <a:ext cx="10868745" cy="443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750"/>
              <a:buFont typeface="Raleway"/>
              <a:buNone/>
            </a:pPr>
            <a:r>
              <a:rPr b="0" i="0" lang="en-US" sz="27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The Freelancer's Productivity Gap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" name="Google Shape;3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1590675"/>
            <a:ext cx="3946029" cy="394612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/>
          <p:nvPr/>
        </p:nvSpPr>
        <p:spPr>
          <a:xfrm>
            <a:off x="6275131" y="1605062"/>
            <a:ext cx="5261439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350"/>
              <a:buFont typeface="Raleway"/>
              <a:buNone/>
            </a:pPr>
            <a:r>
              <a:rPr b="0" i="0" lang="en-US" sz="13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Before Automation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6275131" y="1932781"/>
            <a:ext cx="5261439" cy="1612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3520" lvl="0" marL="22352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Char char="•"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Manual lead qualification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Char char="•"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Proposal writing from scratch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Char char="•"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Manual project tracking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Char char="•"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Invoice creation &amp; follow-ups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Char char="•"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Payment reminders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Char char="•"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Testimonial collection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Char char="•"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Manual business reports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6275131" y="3651349"/>
            <a:ext cx="5261439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350"/>
              <a:buFont typeface="Raleway"/>
              <a:buNone/>
            </a:pPr>
            <a:r>
              <a:rPr b="0" i="0" lang="en-US" sz="13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After Automation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6275131" y="3979069"/>
            <a:ext cx="5261439" cy="1612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3520" lvl="0" marL="22352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Char char="•"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AI-powered lead qualification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Char char="•"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AI-generated proposals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Char char="•"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Automated project management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Char char="•"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AI invoice generation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Char char="•"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Automated payment tracking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Char char="•"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Automated feedback collection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Char char="•"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Real-time analytics dashboard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661475" y="5775920"/>
            <a:ext cx="10868745" cy="471190"/>
          </a:xfrm>
          <a:prstGeom prst="roundRect">
            <a:avLst>
              <a:gd fmla="val 12636" name="adj"/>
            </a:avLst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3156" y="5968702"/>
            <a:ext cx="177200" cy="141684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5"/>
          <p:cNvSpPr/>
          <p:nvPr/>
        </p:nvSpPr>
        <p:spPr>
          <a:xfrm>
            <a:off x="1122037" y="5917605"/>
            <a:ext cx="10876087" cy="198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Core Problem:</a:t>
            </a:r>
            <a:r>
              <a:rPr b="0" i="0" lang="en-U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Freelancers spend significant time on repetitive administrative tasks instead of delivering value to clients.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10959325" y="6527350"/>
            <a:ext cx="1171800" cy="287100"/>
          </a:xfrm>
          <a:prstGeom prst="rect">
            <a:avLst/>
          </a:prstGeom>
          <a:solidFill>
            <a:srgbClr val="FEFE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/>
          <p:nvPr/>
        </p:nvSpPr>
        <p:spPr>
          <a:xfrm>
            <a:off x="661475" y="519807"/>
            <a:ext cx="887490" cy="143470"/>
          </a:xfrm>
          <a:prstGeom prst="roundRect">
            <a:avLst>
              <a:gd fmla="val 22134" name="adj"/>
            </a:avLst>
          </a:prstGeom>
          <a:noFill/>
          <a:ln cap="flat" cmpd="sng" w="9525">
            <a:solidFill>
              <a:srgbClr val="1B1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6"/>
          <p:cNvSpPr/>
          <p:nvPr/>
        </p:nvSpPr>
        <p:spPr>
          <a:xfrm>
            <a:off x="718127" y="548084"/>
            <a:ext cx="1383769" cy="86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550"/>
              <a:buFont typeface="Roboto"/>
              <a:buNone/>
            </a:pPr>
            <a:r>
              <a:rPr b="0" i="0" lang="en-US" sz="550" u="none" cap="none" strike="noStrike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PROJECT OBJECTIVES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850"/>
              <a:buFont typeface="Raleway"/>
              <a:buNone/>
            </a:pPr>
            <a:r>
              <a:rPr b="0" i="0" lang="en-US" sz="18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Automating the Complete Freelance Lifecycle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661475" y="3516511"/>
            <a:ext cx="531908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Roboto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FreelanceFlow AI eliminates manual overhead across every stage of a freelance engagement — from first contact to final payment — using AI and intelligent workflow automation.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803156" y="3838873"/>
            <a:ext cx="5786987" cy="113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Roboto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"To automate the complete freelance business lifecycle using Artificial Intelligence and Workflow Automation."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661475" y="3796407"/>
            <a:ext cx="12700" cy="198338"/>
          </a:xfrm>
          <a:prstGeom prst="roundRect">
            <a:avLst>
              <a:gd fmla="val 49999" name="adj"/>
            </a:avLst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" name="Google Shape;5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487" y="1101328"/>
            <a:ext cx="5319083" cy="5319216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6"/>
          <p:cNvSpPr/>
          <p:nvPr/>
        </p:nvSpPr>
        <p:spPr>
          <a:xfrm>
            <a:off x="10959325" y="6527350"/>
            <a:ext cx="1171800" cy="287100"/>
          </a:xfrm>
          <a:prstGeom prst="rect">
            <a:avLst/>
          </a:prstGeom>
          <a:solidFill>
            <a:srgbClr val="FEFE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/>
          <p:nvPr/>
        </p:nvSpPr>
        <p:spPr>
          <a:xfrm>
            <a:off x="661475" y="557907"/>
            <a:ext cx="1534578" cy="229691"/>
          </a:xfrm>
          <a:prstGeom prst="roundRect">
            <a:avLst>
              <a:gd fmla="val 22120" name="adj"/>
            </a:avLst>
          </a:prstGeom>
          <a:noFill/>
          <a:ln cap="flat" cmpd="sng" w="9525">
            <a:solidFill>
              <a:srgbClr val="1B1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7"/>
          <p:cNvSpPr/>
          <p:nvPr/>
        </p:nvSpPr>
        <p:spPr>
          <a:xfrm>
            <a:off x="752159" y="603250"/>
            <a:ext cx="1962795" cy="139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SYSTEM ARCHITECTURE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661475" y="835918"/>
            <a:ext cx="10868745" cy="472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950"/>
              <a:buFont typeface="Raleway"/>
              <a:buNone/>
            </a:pPr>
            <a:r>
              <a:rPr b="0" i="0" lang="en-US" sz="29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Overall Architecture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5" name="Google Shape;6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7285" y="1489770"/>
            <a:ext cx="7757125" cy="4238923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7"/>
          <p:cNvSpPr/>
          <p:nvPr/>
        </p:nvSpPr>
        <p:spPr>
          <a:xfrm>
            <a:off x="3240179" y="3353682"/>
            <a:ext cx="1797394" cy="489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500"/>
              <a:buFont typeface="Raleway"/>
              <a:buNone/>
            </a:pPr>
            <a:r>
              <a:rPr b="0" i="0" lang="en-US" sz="15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Intake &amp; Qualification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7778904" y="3326102"/>
            <a:ext cx="1797393" cy="489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500"/>
              <a:buFont typeface="Raleway"/>
              <a:buNone/>
            </a:pPr>
            <a:r>
              <a:rPr b="0" i="0" lang="en-US" sz="15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Central DB &amp; Automation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7"/>
          <p:cNvSpPr/>
          <p:nvPr/>
        </p:nvSpPr>
        <p:spPr>
          <a:xfrm>
            <a:off x="5561711" y="3457208"/>
            <a:ext cx="1797394" cy="244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500"/>
              <a:buFont typeface="Raleway"/>
              <a:buNone/>
            </a:pPr>
            <a:r>
              <a:rPr b="0" i="0" lang="en-US" sz="15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Delivery &amp; Insights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/>
          <p:nvPr/>
        </p:nvSpPr>
        <p:spPr>
          <a:xfrm>
            <a:off x="661475" y="5864721"/>
            <a:ext cx="10868745" cy="435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50"/>
              <a:buFont typeface="Roboto"/>
              <a:buNone/>
            </a:pPr>
            <a:r>
              <a:rPr b="0" i="0" lang="en-US" sz="11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Google Forms captures client intake data, which flows into a centralized Google Sheets database. Six orchestrated n8n workflows — powered by OpenAI GPT, Gmail, Google Drive, and Cron schedulers — process each stage of the freelance lifecycle automatically and sequentially.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10959325" y="6527350"/>
            <a:ext cx="1171800" cy="287100"/>
          </a:xfrm>
          <a:prstGeom prst="rect">
            <a:avLst/>
          </a:prstGeom>
          <a:solidFill>
            <a:srgbClr val="FEFE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8"/>
          <p:cNvSpPr/>
          <p:nvPr/>
        </p:nvSpPr>
        <p:spPr>
          <a:xfrm>
            <a:off x="661475" y="723602"/>
            <a:ext cx="1548865" cy="243979"/>
          </a:xfrm>
          <a:prstGeom prst="roundRect">
            <a:avLst>
              <a:gd fmla="val 22126" name="adj"/>
            </a:avLst>
          </a:prstGeom>
          <a:noFill/>
          <a:ln cap="flat" cmpd="sng" w="9525">
            <a:solidFill>
              <a:srgbClr val="1B1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8"/>
          <p:cNvSpPr/>
          <p:nvPr/>
        </p:nvSpPr>
        <p:spPr>
          <a:xfrm>
            <a:off x="757814" y="771723"/>
            <a:ext cx="1965772" cy="147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WORKFLOW OVERVIEW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8"/>
          <p:cNvSpPr/>
          <p:nvPr/>
        </p:nvSpPr>
        <p:spPr>
          <a:xfrm>
            <a:off x="661475" y="1022152"/>
            <a:ext cx="10868745" cy="502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150"/>
              <a:buFont typeface="Raleway"/>
              <a:buNone/>
            </a:pPr>
            <a:r>
              <a:rPr b="0" i="0" lang="en-US" sz="31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Six Intelligent Workflows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9" name="Google Shape;7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1728986"/>
            <a:ext cx="968252" cy="59838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8"/>
          <p:cNvSpPr/>
          <p:nvPr/>
        </p:nvSpPr>
        <p:spPr>
          <a:xfrm>
            <a:off x="661475" y="2498030"/>
            <a:ext cx="2589148" cy="502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50"/>
              <a:buFont typeface="Raleway"/>
              <a:buNone/>
            </a:pPr>
            <a:r>
              <a:rPr b="0" i="0" lang="en-US" sz="15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WF-01 · AI Lead Qualification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8"/>
          <p:cNvSpPr/>
          <p:nvPr/>
        </p:nvSpPr>
        <p:spPr>
          <a:xfrm>
            <a:off x="661475" y="3081933"/>
            <a:ext cx="2589148" cy="713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50"/>
              <a:buFont typeface="Roboto"/>
              <a:buNone/>
            </a:pPr>
            <a:r>
              <a:rPr b="0" i="0" lang="en-US" sz="12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GPT scores and prioritizes incoming leads, routing qualified prospects automatically.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2" name="Google Shape;8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1275" y="1728986"/>
            <a:ext cx="968351" cy="598487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8"/>
          <p:cNvSpPr/>
          <p:nvPr/>
        </p:nvSpPr>
        <p:spPr>
          <a:xfrm>
            <a:off x="3421275" y="2498130"/>
            <a:ext cx="2589247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50"/>
              <a:buFont typeface="Raleway"/>
              <a:buNone/>
            </a:pPr>
            <a:r>
              <a:rPr b="0" i="0" lang="en-US" sz="15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WF-02 · Proposal Generator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8"/>
          <p:cNvSpPr/>
          <p:nvPr/>
        </p:nvSpPr>
        <p:spPr>
          <a:xfrm>
            <a:off x="3421275" y="2831009"/>
            <a:ext cx="2589247" cy="713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50"/>
              <a:buFont typeface="Roboto"/>
              <a:buNone/>
            </a:pPr>
            <a:r>
              <a:rPr b="0" i="0" lang="en-US" sz="12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AI drafts personalized proposals from lead data, exported as polished PDFs.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5" name="Google Shape;8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81173" y="1728986"/>
            <a:ext cx="968252" cy="5983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8"/>
          <p:cNvSpPr/>
          <p:nvPr/>
        </p:nvSpPr>
        <p:spPr>
          <a:xfrm>
            <a:off x="6181173" y="2498030"/>
            <a:ext cx="2589148" cy="502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50"/>
              <a:buFont typeface="Raleway"/>
              <a:buNone/>
            </a:pPr>
            <a:r>
              <a:rPr b="0" i="0" lang="en-US" sz="15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WF-03 · Project Management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6181173" y="3081933"/>
            <a:ext cx="2589148" cy="713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50"/>
              <a:buFont typeface="Roboto"/>
              <a:buNone/>
            </a:pPr>
            <a:r>
              <a:rPr b="0" i="0" lang="en-US" sz="12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Auto-creates tasks, tracks milestones, and sends client updates on schedule.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8" name="Google Shape;88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40973" y="1728986"/>
            <a:ext cx="968351" cy="598487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8"/>
          <p:cNvSpPr/>
          <p:nvPr/>
        </p:nvSpPr>
        <p:spPr>
          <a:xfrm>
            <a:off x="8940973" y="2498130"/>
            <a:ext cx="2589247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50"/>
              <a:buFont typeface="Raleway"/>
              <a:buNone/>
            </a:pPr>
            <a:r>
              <a:rPr b="0" i="0" lang="en-US" sz="15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WF-04 · Invoice Automation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8"/>
          <p:cNvSpPr/>
          <p:nvPr/>
        </p:nvSpPr>
        <p:spPr>
          <a:xfrm>
            <a:off x="8940973" y="2831009"/>
            <a:ext cx="2589247" cy="713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50"/>
              <a:buFont typeface="Roboto"/>
              <a:buNone/>
            </a:pPr>
            <a:r>
              <a:rPr b="0" i="0" lang="en-US" sz="12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Generates and dispatches invoices on project completion with automated reminders.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1" name="Google Shape;91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1475" y="4068167"/>
            <a:ext cx="968252" cy="5983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8"/>
          <p:cNvSpPr/>
          <p:nvPr/>
        </p:nvSpPr>
        <p:spPr>
          <a:xfrm>
            <a:off x="661475" y="4837212"/>
            <a:ext cx="2589148" cy="502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50"/>
              <a:buFont typeface="Raleway"/>
              <a:buNone/>
            </a:pPr>
            <a:r>
              <a:rPr b="0" i="0" lang="en-US" sz="15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WF-05 · Feedback &amp; Portfolio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8"/>
          <p:cNvSpPr/>
          <p:nvPr/>
        </p:nvSpPr>
        <p:spPr>
          <a:xfrm>
            <a:off x="661475" y="5421114"/>
            <a:ext cx="2589148" cy="713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50"/>
              <a:buFont typeface="Roboto"/>
              <a:buNone/>
            </a:pPr>
            <a:r>
              <a:rPr b="0" i="0" lang="en-US" sz="12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Collects testimonials post-project and updates the portfolio automatically.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4" name="Google Shape;94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21275" y="4068167"/>
            <a:ext cx="968351" cy="598487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8"/>
          <p:cNvSpPr/>
          <p:nvPr/>
        </p:nvSpPr>
        <p:spPr>
          <a:xfrm>
            <a:off x="3421275" y="4837311"/>
            <a:ext cx="2589247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50"/>
              <a:buFont typeface="Raleway"/>
              <a:buNone/>
            </a:pPr>
            <a:r>
              <a:rPr b="0" i="0" lang="en-US" sz="15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WF-06 · Business Analytics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3421275" y="5170190"/>
            <a:ext cx="2589247" cy="713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50"/>
              <a:buFont typeface="Roboto"/>
              <a:buNone/>
            </a:pPr>
            <a:r>
              <a:rPr b="0" i="0" lang="en-US" sz="12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Aggregates performance data into a real-time business intelligence dashboard.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8"/>
          <p:cNvSpPr/>
          <p:nvPr/>
        </p:nvSpPr>
        <p:spPr>
          <a:xfrm>
            <a:off x="10959325" y="6527350"/>
            <a:ext cx="1171800" cy="287100"/>
          </a:xfrm>
          <a:prstGeom prst="rect">
            <a:avLst/>
          </a:prstGeom>
          <a:solidFill>
            <a:srgbClr val="FEFE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"/>
          <p:cNvSpPr/>
          <p:nvPr/>
        </p:nvSpPr>
        <p:spPr>
          <a:xfrm>
            <a:off x="661475" y="880070"/>
            <a:ext cx="1273838" cy="215305"/>
          </a:xfrm>
          <a:prstGeom prst="roundRect">
            <a:avLst>
              <a:gd fmla="val 22123" name="adj"/>
            </a:avLst>
          </a:prstGeom>
          <a:noFill/>
          <a:ln cap="flat" cmpd="sng" w="9525">
            <a:solidFill>
              <a:srgbClr val="1B1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9"/>
          <p:cNvSpPr/>
          <p:nvPr/>
        </p:nvSpPr>
        <p:spPr>
          <a:xfrm>
            <a:off x="746503" y="922536"/>
            <a:ext cx="1713366" cy="130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850"/>
              <a:buFont typeface="Roboto"/>
              <a:buNone/>
            </a:pPr>
            <a:r>
              <a:rPr b="0" i="0" lang="en-US" sz="850" u="none" cap="none" strike="noStrike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TECHNOLOGY STACK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9"/>
          <p:cNvSpPr/>
          <p:nvPr/>
        </p:nvSpPr>
        <p:spPr>
          <a:xfrm>
            <a:off x="661475" y="1137841"/>
            <a:ext cx="10868745" cy="443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750"/>
              <a:buFont typeface="Raleway"/>
              <a:buNone/>
            </a:pPr>
            <a:r>
              <a:rPr b="0" i="0" lang="en-US" sz="27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Built With Best-in-Class Tools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6" name="Google Shape;10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1740297"/>
            <a:ext cx="283461" cy="283468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9"/>
          <p:cNvSpPr/>
          <p:nvPr/>
        </p:nvSpPr>
        <p:spPr>
          <a:xfrm>
            <a:off x="661475" y="2156619"/>
            <a:ext cx="5367898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50"/>
              <a:buFont typeface="Raleway"/>
              <a:buNone/>
            </a:pPr>
            <a:r>
              <a:rPr b="0" i="0" lang="en-US" sz="13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n8n Cloud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9"/>
          <p:cNvSpPr/>
          <p:nvPr/>
        </p:nvSpPr>
        <p:spPr>
          <a:xfrm>
            <a:off x="661475" y="2441773"/>
            <a:ext cx="5367898" cy="198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Orchestrates all six workflows with visual automation and API integrations.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9" name="Google Shape;10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62223" y="1740297"/>
            <a:ext cx="283461" cy="283468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9"/>
          <p:cNvSpPr/>
          <p:nvPr/>
        </p:nvSpPr>
        <p:spPr>
          <a:xfrm>
            <a:off x="6162223" y="2156619"/>
            <a:ext cx="5367997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50"/>
              <a:buFont typeface="Raleway"/>
              <a:buNone/>
            </a:pPr>
            <a:r>
              <a:rPr b="0" i="0" lang="en-US" sz="13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OpenAI GPT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6162223" y="2441773"/>
            <a:ext cx="5367997" cy="198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Generates proposals, qualifies leads, and produces contextual business content.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2" name="Google Shape;11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1475" y="2852837"/>
            <a:ext cx="283461" cy="283468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9"/>
          <p:cNvSpPr/>
          <p:nvPr/>
        </p:nvSpPr>
        <p:spPr>
          <a:xfrm>
            <a:off x="661475" y="3269159"/>
            <a:ext cx="5367898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50"/>
              <a:buFont typeface="Raleway"/>
              <a:buNone/>
            </a:pPr>
            <a:r>
              <a:rPr b="0" i="0" lang="en-US" sz="13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Google Sheets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661475" y="3554313"/>
            <a:ext cx="5367898" cy="198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Central relational database across 11 interconnected sheets.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5" name="Google Shape;115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62223" y="2852837"/>
            <a:ext cx="283461" cy="28346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9"/>
          <p:cNvSpPr/>
          <p:nvPr/>
        </p:nvSpPr>
        <p:spPr>
          <a:xfrm>
            <a:off x="6162223" y="3269159"/>
            <a:ext cx="5367997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50"/>
              <a:buFont typeface="Raleway"/>
              <a:buNone/>
            </a:pPr>
            <a:r>
              <a:rPr b="0" i="0" lang="en-US" sz="13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Google Drive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6162223" y="3554313"/>
            <a:ext cx="5367997" cy="198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Stores proposals, invoices, and project deliverables with automated organization.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8" name="Google Shape;118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1475" y="3965377"/>
            <a:ext cx="283461" cy="28346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9"/>
          <p:cNvSpPr/>
          <p:nvPr/>
        </p:nvSpPr>
        <p:spPr>
          <a:xfrm>
            <a:off x="661475" y="4381698"/>
            <a:ext cx="5367898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50"/>
              <a:buFont typeface="Raleway"/>
              <a:buNone/>
            </a:pPr>
            <a:r>
              <a:rPr b="0" i="0" lang="en-US" sz="13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Google Forms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9"/>
          <p:cNvSpPr/>
          <p:nvPr/>
        </p:nvSpPr>
        <p:spPr>
          <a:xfrm>
            <a:off x="661475" y="4666853"/>
            <a:ext cx="5367898" cy="198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Captures client intake and feedback data as workflow triggers.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1" name="Google Shape;121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62223" y="3965377"/>
            <a:ext cx="283461" cy="283468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9"/>
          <p:cNvSpPr/>
          <p:nvPr/>
        </p:nvSpPr>
        <p:spPr>
          <a:xfrm>
            <a:off x="6162223" y="4381698"/>
            <a:ext cx="5367997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50"/>
              <a:buFont typeface="Raleway"/>
              <a:buNone/>
            </a:pPr>
            <a:r>
              <a:rPr b="0" i="0" lang="en-US" sz="13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Gmail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9"/>
          <p:cNvSpPr/>
          <p:nvPr/>
        </p:nvSpPr>
        <p:spPr>
          <a:xfrm>
            <a:off x="6162223" y="4666853"/>
            <a:ext cx="5367997" cy="198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Sends proposals, invoices, and notifications via automated email sequences.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4" name="Google Shape;124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1475" y="5077916"/>
            <a:ext cx="283461" cy="283468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9"/>
          <p:cNvSpPr/>
          <p:nvPr/>
        </p:nvSpPr>
        <p:spPr>
          <a:xfrm>
            <a:off x="661475" y="5494238"/>
            <a:ext cx="5367898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50"/>
              <a:buFont typeface="Raleway"/>
              <a:buNone/>
            </a:pPr>
            <a:r>
              <a:rPr b="0" i="0" lang="en-US" sz="13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JavaScript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661475" y="5779393"/>
            <a:ext cx="5367898" cy="198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Custom logic for data transformation and conditional workflow branching.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7" name="Google Shape;127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162223" y="5077916"/>
            <a:ext cx="283461" cy="283468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9"/>
          <p:cNvSpPr/>
          <p:nvPr/>
        </p:nvSpPr>
        <p:spPr>
          <a:xfrm>
            <a:off x="6162223" y="5494238"/>
            <a:ext cx="5367997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50"/>
              <a:buFont typeface="Raleway"/>
              <a:buNone/>
            </a:pPr>
            <a:r>
              <a:rPr b="0" i="0" lang="en-US" sz="13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HTTP APIs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6162223" y="5779393"/>
            <a:ext cx="5367997" cy="198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Connects external services, webhooks, and third-party integrations.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10959325" y="6527350"/>
            <a:ext cx="1171800" cy="287100"/>
          </a:xfrm>
          <a:prstGeom prst="rect">
            <a:avLst/>
          </a:prstGeom>
          <a:solidFill>
            <a:srgbClr val="FEFE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"/>
          <p:cNvSpPr/>
          <p:nvPr/>
        </p:nvSpPr>
        <p:spPr>
          <a:xfrm>
            <a:off x="661475" y="519807"/>
            <a:ext cx="763866" cy="143470"/>
          </a:xfrm>
          <a:prstGeom prst="roundRect">
            <a:avLst>
              <a:gd fmla="val 22134" name="adj"/>
            </a:avLst>
          </a:prstGeom>
          <a:noFill/>
          <a:ln cap="flat" cmpd="sng" w="9525">
            <a:solidFill>
              <a:srgbClr val="1B1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0"/>
          <p:cNvSpPr/>
          <p:nvPr/>
        </p:nvSpPr>
        <p:spPr>
          <a:xfrm>
            <a:off x="718127" y="548084"/>
            <a:ext cx="1260146" cy="86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550"/>
              <a:buFont typeface="Roboto"/>
              <a:buNone/>
            </a:pPr>
            <a:r>
              <a:rPr b="0" i="0" lang="en-US" sz="550" u="none" cap="none" strike="noStrike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DATABASE DESIGN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850"/>
              <a:buFont typeface="Raleway"/>
              <a:buNone/>
            </a:pPr>
            <a:r>
              <a:rPr b="0" i="0" lang="en-US" sz="18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Unified Data Architecture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/>
          <p:nvPr/>
        </p:nvSpPr>
        <p:spPr>
          <a:xfrm>
            <a:off x="661475" y="3647480"/>
            <a:ext cx="531908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00"/>
              <a:buFont typeface="Roboto"/>
              <a:buNone/>
            </a:pPr>
            <a:r>
              <a:rPr b="0" i="0" lang="en-US" sz="7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All workflow data flows through a centralized Google Sheets database — 11 interconnected sheets forming a unified data layer. Each entity links to the next, ensuring full traceability from first lead to final payment.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0" name="Google Shape;14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487" y="1101328"/>
            <a:ext cx="5319083" cy="5319216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0"/>
          <p:cNvSpPr/>
          <p:nvPr/>
        </p:nvSpPr>
        <p:spPr>
          <a:xfrm>
            <a:off x="10959325" y="6527350"/>
            <a:ext cx="1171800" cy="287100"/>
          </a:xfrm>
          <a:prstGeom prst="rect">
            <a:avLst/>
          </a:prstGeom>
          <a:solidFill>
            <a:srgbClr val="FEFE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"/>
          <p:cNvSpPr/>
          <p:nvPr/>
        </p:nvSpPr>
        <p:spPr>
          <a:xfrm>
            <a:off x="661475" y="604639"/>
            <a:ext cx="1694614" cy="229691"/>
          </a:xfrm>
          <a:prstGeom prst="roundRect">
            <a:avLst>
              <a:gd fmla="val 22120" name="adj"/>
            </a:avLst>
          </a:prstGeom>
          <a:noFill/>
          <a:ln cap="flat" cmpd="sng" w="9525">
            <a:solidFill>
              <a:srgbClr val="1B1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1"/>
          <p:cNvSpPr/>
          <p:nvPr/>
        </p:nvSpPr>
        <p:spPr>
          <a:xfrm>
            <a:off x="752159" y="649982"/>
            <a:ext cx="2122831" cy="139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RESULTS &amp; ACHIEVEMENTS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1"/>
          <p:cNvSpPr/>
          <p:nvPr/>
        </p:nvSpPr>
        <p:spPr>
          <a:xfrm>
            <a:off x="661475" y="882650"/>
            <a:ext cx="10868745" cy="472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950"/>
              <a:buFont typeface="Raleway"/>
              <a:buNone/>
            </a:pPr>
            <a:r>
              <a:rPr b="0" i="0" lang="en-US" sz="29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By the Numbers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1"/>
          <p:cNvSpPr/>
          <p:nvPr/>
        </p:nvSpPr>
        <p:spPr>
          <a:xfrm>
            <a:off x="1197342" y="1612106"/>
            <a:ext cx="4286937" cy="49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3900"/>
              <a:buFont typeface="Raleway"/>
              <a:buNone/>
            </a:pPr>
            <a:r>
              <a:rPr b="0" i="0" lang="en-US" sz="39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6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1"/>
          <p:cNvSpPr/>
          <p:nvPr/>
        </p:nvSpPr>
        <p:spPr>
          <a:xfrm>
            <a:off x="661475" y="2277467"/>
            <a:ext cx="5358770" cy="23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aleway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Automated Workflows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1"/>
          <p:cNvSpPr/>
          <p:nvPr/>
        </p:nvSpPr>
        <p:spPr>
          <a:xfrm>
            <a:off x="661475" y="2586236"/>
            <a:ext cx="5358770" cy="217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50"/>
              <a:buFont typeface="Roboto"/>
              <a:buNone/>
            </a:pPr>
            <a:r>
              <a:rPr b="0" i="0" lang="en-US" sz="11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End-to-end lifecycle coverage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1"/>
          <p:cNvSpPr/>
          <p:nvPr/>
        </p:nvSpPr>
        <p:spPr>
          <a:xfrm>
            <a:off x="6707317" y="1612106"/>
            <a:ext cx="4286937" cy="49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3900"/>
              <a:buFont typeface="Raleway"/>
              <a:buNone/>
            </a:pPr>
            <a:r>
              <a:rPr b="0" i="0" lang="en-US" sz="39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90+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1"/>
          <p:cNvSpPr/>
          <p:nvPr/>
        </p:nvSpPr>
        <p:spPr>
          <a:xfrm>
            <a:off x="6171450" y="2277467"/>
            <a:ext cx="5358770" cy="23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aleway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Workflow Nodes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1"/>
          <p:cNvSpPr/>
          <p:nvPr/>
        </p:nvSpPr>
        <p:spPr>
          <a:xfrm>
            <a:off x="6171450" y="2586236"/>
            <a:ext cx="5358770" cy="217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50"/>
              <a:buFont typeface="Roboto"/>
              <a:buNone/>
            </a:pPr>
            <a:r>
              <a:rPr b="0" i="0" lang="en-US" sz="11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Complex automation logic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1"/>
          <p:cNvSpPr/>
          <p:nvPr/>
        </p:nvSpPr>
        <p:spPr>
          <a:xfrm>
            <a:off x="1197342" y="3121422"/>
            <a:ext cx="4286937" cy="49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3900"/>
              <a:buFont typeface="Raleway"/>
              <a:buNone/>
            </a:pPr>
            <a:r>
              <a:rPr b="0" i="0" lang="en-US" sz="39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11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1"/>
          <p:cNvSpPr/>
          <p:nvPr/>
        </p:nvSpPr>
        <p:spPr>
          <a:xfrm>
            <a:off x="661475" y="3786783"/>
            <a:ext cx="5358770" cy="23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aleway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Google Sheets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1"/>
          <p:cNvSpPr/>
          <p:nvPr/>
        </p:nvSpPr>
        <p:spPr>
          <a:xfrm>
            <a:off x="661475" y="4095552"/>
            <a:ext cx="5358770" cy="217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50"/>
              <a:buFont typeface="Roboto"/>
              <a:buNone/>
            </a:pPr>
            <a:r>
              <a:rPr b="0" i="0" lang="en-US" sz="11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Interconnected data stores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1"/>
          <p:cNvSpPr/>
          <p:nvPr/>
        </p:nvSpPr>
        <p:spPr>
          <a:xfrm>
            <a:off x="6707317" y="3121422"/>
            <a:ext cx="4286937" cy="49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3900"/>
              <a:buFont typeface="Raleway"/>
              <a:buNone/>
            </a:pPr>
            <a:r>
              <a:rPr b="0" i="0" lang="en-US" sz="39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100%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1"/>
          <p:cNvSpPr/>
          <p:nvPr/>
        </p:nvSpPr>
        <p:spPr>
          <a:xfrm>
            <a:off x="6171450" y="3786783"/>
            <a:ext cx="5358770" cy="23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aleway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Automated Pipeline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1"/>
          <p:cNvSpPr/>
          <p:nvPr/>
        </p:nvSpPr>
        <p:spPr>
          <a:xfrm>
            <a:off x="6171450" y="4095552"/>
            <a:ext cx="5358770" cy="217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50"/>
              <a:buFont typeface="Roboto"/>
              <a:buNone/>
            </a:pPr>
            <a:r>
              <a:rPr b="0" i="0" lang="en-US" sz="11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Zero manual intervention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1"/>
          <p:cNvSpPr/>
          <p:nvPr/>
        </p:nvSpPr>
        <p:spPr>
          <a:xfrm>
            <a:off x="661475" y="4449266"/>
            <a:ext cx="5373851" cy="841573"/>
          </a:xfrm>
          <a:prstGeom prst="roundRect">
            <a:avLst>
              <a:gd fmla="val 7547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1"/>
          <p:cNvSpPr/>
          <p:nvPr/>
        </p:nvSpPr>
        <p:spPr>
          <a:xfrm>
            <a:off x="819030" y="4606826"/>
            <a:ext cx="5058740" cy="23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aleway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AI Integrated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1"/>
          <p:cNvSpPr/>
          <p:nvPr/>
        </p:nvSpPr>
        <p:spPr>
          <a:xfrm>
            <a:off x="819030" y="4915595"/>
            <a:ext cx="5058740" cy="217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50"/>
              <a:buFont typeface="Roboto"/>
              <a:buNone/>
            </a:pPr>
            <a:r>
              <a:rPr b="0" i="0" lang="en-US" sz="11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OpenAI GPT embedded across all core workflows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1"/>
          <p:cNvSpPr/>
          <p:nvPr/>
        </p:nvSpPr>
        <p:spPr>
          <a:xfrm>
            <a:off x="6156270" y="4449266"/>
            <a:ext cx="5373950" cy="841573"/>
          </a:xfrm>
          <a:prstGeom prst="roundRect">
            <a:avLst>
              <a:gd fmla="val 7547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1"/>
          <p:cNvSpPr/>
          <p:nvPr/>
        </p:nvSpPr>
        <p:spPr>
          <a:xfrm>
            <a:off x="6313826" y="4606826"/>
            <a:ext cx="5058839" cy="23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aleway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Proposal PDF Generation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1"/>
          <p:cNvSpPr/>
          <p:nvPr/>
        </p:nvSpPr>
        <p:spPr>
          <a:xfrm>
            <a:off x="6313826" y="4915595"/>
            <a:ext cx="5058839" cy="217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50"/>
              <a:buFont typeface="Roboto"/>
              <a:buNone/>
            </a:pPr>
            <a:r>
              <a:rPr b="0" i="0" lang="en-US" sz="11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Professional proposals auto-generated and delivered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1"/>
          <p:cNvSpPr/>
          <p:nvPr/>
        </p:nvSpPr>
        <p:spPr>
          <a:xfrm>
            <a:off x="661475" y="5411788"/>
            <a:ext cx="5373851" cy="841573"/>
          </a:xfrm>
          <a:prstGeom prst="roundRect">
            <a:avLst>
              <a:gd fmla="val 7547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1"/>
          <p:cNvSpPr/>
          <p:nvPr/>
        </p:nvSpPr>
        <p:spPr>
          <a:xfrm>
            <a:off x="819030" y="5569347"/>
            <a:ext cx="5058740" cy="23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aleway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Invoice Automation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1"/>
          <p:cNvSpPr/>
          <p:nvPr/>
        </p:nvSpPr>
        <p:spPr>
          <a:xfrm>
            <a:off x="819030" y="5878116"/>
            <a:ext cx="5058740" cy="217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50"/>
              <a:buFont typeface="Roboto"/>
              <a:buNone/>
            </a:pPr>
            <a:r>
              <a:rPr b="0" i="0" lang="en-US" sz="11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Timely, accurate billing with automated reminders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6156270" y="5411788"/>
            <a:ext cx="5373950" cy="841573"/>
          </a:xfrm>
          <a:prstGeom prst="roundRect">
            <a:avLst>
              <a:gd fmla="val 7547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1"/>
          <p:cNvSpPr/>
          <p:nvPr/>
        </p:nvSpPr>
        <p:spPr>
          <a:xfrm>
            <a:off x="6313826" y="5569347"/>
            <a:ext cx="5058839" cy="23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aleway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Business Dashboard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1"/>
          <p:cNvSpPr/>
          <p:nvPr/>
        </p:nvSpPr>
        <p:spPr>
          <a:xfrm>
            <a:off x="6313826" y="5878116"/>
            <a:ext cx="5058839" cy="217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50"/>
              <a:buFont typeface="Roboto"/>
              <a:buNone/>
            </a:pPr>
            <a:r>
              <a:rPr b="0" i="0" lang="en-US" sz="11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Real-time analytics and performance insights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10959325" y="6527350"/>
            <a:ext cx="1171800" cy="287100"/>
          </a:xfrm>
          <a:prstGeom prst="rect">
            <a:avLst/>
          </a:prstGeom>
          <a:solidFill>
            <a:srgbClr val="FEFE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"/>
          <p:cNvSpPr/>
          <p:nvPr/>
        </p:nvSpPr>
        <p:spPr>
          <a:xfrm>
            <a:off x="661475" y="622201"/>
            <a:ext cx="965176" cy="215305"/>
          </a:xfrm>
          <a:prstGeom prst="roundRect">
            <a:avLst>
              <a:gd fmla="val 22123" name="adj"/>
            </a:avLst>
          </a:prstGeom>
          <a:noFill/>
          <a:ln cap="flat" cmpd="sng" w="9525">
            <a:solidFill>
              <a:srgbClr val="1B1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2"/>
          <p:cNvSpPr/>
          <p:nvPr/>
        </p:nvSpPr>
        <p:spPr>
          <a:xfrm>
            <a:off x="746503" y="664666"/>
            <a:ext cx="1404704" cy="130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850"/>
              <a:buFont typeface="Roboto"/>
              <a:buNone/>
            </a:pPr>
            <a:r>
              <a:rPr b="0" i="0" lang="en-US" sz="850" u="none" cap="none" strike="noStrike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FUTURE SCOPE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661475" y="879971"/>
            <a:ext cx="10868745" cy="443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750"/>
              <a:buFont typeface="Raleway"/>
              <a:buNone/>
            </a:pPr>
            <a:r>
              <a:rPr b="0" i="0" lang="en-US" sz="27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The Road Ahead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2"/>
          <p:cNvSpPr/>
          <p:nvPr/>
        </p:nvSpPr>
        <p:spPr>
          <a:xfrm>
            <a:off x="6086323" y="1482427"/>
            <a:ext cx="19050" cy="4753273"/>
          </a:xfrm>
          <a:prstGeom prst="roundRect">
            <a:avLst>
              <a:gd fmla="val 49999" name="adj"/>
            </a:avLst>
          </a:prstGeom>
          <a:solidFill>
            <a:srgbClr val="C7C7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2"/>
          <p:cNvSpPr/>
          <p:nvPr/>
        </p:nvSpPr>
        <p:spPr>
          <a:xfrm>
            <a:off x="5530216" y="1632347"/>
            <a:ext cx="425241" cy="19050"/>
          </a:xfrm>
          <a:prstGeom prst="roundRect">
            <a:avLst>
              <a:gd fmla="val 49999" name="adj"/>
            </a:avLst>
          </a:prstGeom>
          <a:solidFill>
            <a:srgbClr val="C7C7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2"/>
          <p:cNvSpPr/>
          <p:nvPr/>
        </p:nvSpPr>
        <p:spPr>
          <a:xfrm>
            <a:off x="5936407" y="1482427"/>
            <a:ext cx="318881" cy="318889"/>
          </a:xfrm>
          <a:prstGeom prst="roundRect">
            <a:avLst>
              <a:gd fmla="val 18672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2"/>
          <p:cNvSpPr/>
          <p:nvPr/>
        </p:nvSpPr>
        <p:spPr>
          <a:xfrm>
            <a:off x="5989537" y="1508968"/>
            <a:ext cx="212620" cy="265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650"/>
              <a:buFont typeface="Raleway"/>
              <a:buNone/>
            </a:pPr>
            <a:r>
              <a:rPr b="0" i="0" lang="en-US" sz="16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1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2"/>
          <p:cNvSpPr/>
          <p:nvPr/>
        </p:nvSpPr>
        <p:spPr>
          <a:xfrm>
            <a:off x="661475" y="1531144"/>
            <a:ext cx="472557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50"/>
              <a:buFont typeface="Raleway"/>
              <a:buNone/>
            </a:pPr>
            <a:r>
              <a:rPr b="0" i="0" lang="en-US" sz="13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Phase 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2"/>
          <p:cNvSpPr/>
          <p:nvPr/>
        </p:nvSpPr>
        <p:spPr>
          <a:xfrm>
            <a:off x="661475" y="1816298"/>
            <a:ext cx="4725572" cy="595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WhatsApp Integration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Automated client communication and notifications via WhatsApp Business API.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2"/>
          <p:cNvSpPr/>
          <p:nvPr/>
        </p:nvSpPr>
        <p:spPr>
          <a:xfrm>
            <a:off x="6236239" y="2412008"/>
            <a:ext cx="425241" cy="19050"/>
          </a:xfrm>
          <a:prstGeom prst="roundRect">
            <a:avLst>
              <a:gd fmla="val 49999" name="adj"/>
            </a:avLst>
          </a:prstGeom>
          <a:solidFill>
            <a:srgbClr val="C7C7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2"/>
          <p:cNvSpPr/>
          <p:nvPr/>
        </p:nvSpPr>
        <p:spPr>
          <a:xfrm>
            <a:off x="5936407" y="2262088"/>
            <a:ext cx="318881" cy="318889"/>
          </a:xfrm>
          <a:prstGeom prst="roundRect">
            <a:avLst>
              <a:gd fmla="val 18672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2"/>
          <p:cNvSpPr/>
          <p:nvPr/>
        </p:nvSpPr>
        <p:spPr>
          <a:xfrm>
            <a:off x="5989537" y="2288629"/>
            <a:ext cx="212620" cy="265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650"/>
              <a:buFont typeface="Raleway"/>
              <a:buNone/>
            </a:pPr>
            <a:r>
              <a:rPr b="0" i="0" lang="en-US" sz="16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2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2"/>
          <p:cNvSpPr/>
          <p:nvPr/>
        </p:nvSpPr>
        <p:spPr>
          <a:xfrm>
            <a:off x="6804649" y="2310805"/>
            <a:ext cx="472557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50"/>
              <a:buFont typeface="Raleway"/>
              <a:buNone/>
            </a:pPr>
            <a:r>
              <a:rPr b="0" i="0" lang="en-US" sz="13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Phase 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2"/>
          <p:cNvSpPr/>
          <p:nvPr/>
        </p:nvSpPr>
        <p:spPr>
          <a:xfrm>
            <a:off x="6804649" y="2595959"/>
            <a:ext cx="472557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Stripe Payments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Seamless payment processing and subscription management.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2"/>
          <p:cNvSpPr/>
          <p:nvPr/>
        </p:nvSpPr>
        <p:spPr>
          <a:xfrm>
            <a:off x="5530216" y="3109714"/>
            <a:ext cx="425241" cy="19050"/>
          </a:xfrm>
          <a:prstGeom prst="roundRect">
            <a:avLst>
              <a:gd fmla="val 49999" name="adj"/>
            </a:avLst>
          </a:prstGeom>
          <a:solidFill>
            <a:srgbClr val="C7C7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2"/>
          <p:cNvSpPr/>
          <p:nvPr/>
        </p:nvSpPr>
        <p:spPr>
          <a:xfrm>
            <a:off x="5936407" y="2959795"/>
            <a:ext cx="318881" cy="318889"/>
          </a:xfrm>
          <a:prstGeom prst="roundRect">
            <a:avLst>
              <a:gd fmla="val 18672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2"/>
          <p:cNvSpPr/>
          <p:nvPr/>
        </p:nvSpPr>
        <p:spPr>
          <a:xfrm>
            <a:off x="5989537" y="2986336"/>
            <a:ext cx="212620" cy="265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650"/>
              <a:buFont typeface="Raleway"/>
              <a:buNone/>
            </a:pPr>
            <a:r>
              <a:rPr b="0" i="0" lang="en-US" sz="16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3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661475" y="3008511"/>
            <a:ext cx="472557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50"/>
              <a:buFont typeface="Raleway"/>
              <a:buNone/>
            </a:pPr>
            <a:r>
              <a:rPr b="0" i="0" lang="en-US" sz="13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Phase 3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2"/>
          <p:cNvSpPr/>
          <p:nvPr/>
        </p:nvSpPr>
        <p:spPr>
          <a:xfrm>
            <a:off x="661475" y="3293666"/>
            <a:ext cx="472557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Client Portal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Dedicated dashboard for clients to track project status and deliverables.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6236239" y="3807420"/>
            <a:ext cx="425241" cy="19050"/>
          </a:xfrm>
          <a:prstGeom prst="roundRect">
            <a:avLst>
              <a:gd fmla="val 49999" name="adj"/>
            </a:avLst>
          </a:prstGeom>
          <a:solidFill>
            <a:srgbClr val="C7C7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2"/>
          <p:cNvSpPr/>
          <p:nvPr/>
        </p:nvSpPr>
        <p:spPr>
          <a:xfrm>
            <a:off x="5936407" y="3657501"/>
            <a:ext cx="318881" cy="318889"/>
          </a:xfrm>
          <a:prstGeom prst="roundRect">
            <a:avLst>
              <a:gd fmla="val 18672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2"/>
          <p:cNvSpPr/>
          <p:nvPr/>
        </p:nvSpPr>
        <p:spPr>
          <a:xfrm>
            <a:off x="5989537" y="3684042"/>
            <a:ext cx="212620" cy="265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650"/>
              <a:buFont typeface="Raleway"/>
              <a:buNone/>
            </a:pPr>
            <a:r>
              <a:rPr b="0" i="0" lang="en-US" sz="16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4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2"/>
          <p:cNvSpPr/>
          <p:nvPr/>
        </p:nvSpPr>
        <p:spPr>
          <a:xfrm>
            <a:off x="6804649" y="3706217"/>
            <a:ext cx="472557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50"/>
              <a:buFont typeface="Raleway"/>
              <a:buNone/>
            </a:pPr>
            <a:r>
              <a:rPr b="0" i="0" lang="en-US" sz="13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Phase 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6804649" y="3991372"/>
            <a:ext cx="472557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Slack Integration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Team collaboration and real-time project alerts in Slack.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5530216" y="4505127"/>
            <a:ext cx="425241" cy="19050"/>
          </a:xfrm>
          <a:prstGeom prst="roundRect">
            <a:avLst>
              <a:gd fmla="val 49999" name="adj"/>
            </a:avLst>
          </a:prstGeom>
          <a:solidFill>
            <a:srgbClr val="C7C7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2"/>
          <p:cNvSpPr/>
          <p:nvPr/>
        </p:nvSpPr>
        <p:spPr>
          <a:xfrm>
            <a:off x="5936407" y="4355207"/>
            <a:ext cx="318881" cy="318889"/>
          </a:xfrm>
          <a:prstGeom prst="roundRect">
            <a:avLst>
              <a:gd fmla="val 18672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2"/>
          <p:cNvSpPr/>
          <p:nvPr/>
        </p:nvSpPr>
        <p:spPr>
          <a:xfrm>
            <a:off x="5989537" y="4381748"/>
            <a:ext cx="212620" cy="265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650"/>
              <a:buFont typeface="Raleway"/>
              <a:buNone/>
            </a:pPr>
            <a:r>
              <a:rPr b="0" i="0" lang="en-US" sz="16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5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661475" y="4403923"/>
            <a:ext cx="472557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50"/>
              <a:buFont typeface="Raleway"/>
              <a:buNone/>
            </a:pPr>
            <a:r>
              <a:rPr b="0" i="0" lang="en-US" sz="13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Phase 5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661475" y="4689078"/>
            <a:ext cx="472557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AI Chatbot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Conversational AI assistant for client onboarding and support queries.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6236239" y="5202833"/>
            <a:ext cx="425241" cy="19050"/>
          </a:xfrm>
          <a:prstGeom prst="roundRect">
            <a:avLst>
              <a:gd fmla="val 49999" name="adj"/>
            </a:avLst>
          </a:prstGeom>
          <a:solidFill>
            <a:srgbClr val="C7C7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2"/>
          <p:cNvSpPr/>
          <p:nvPr/>
        </p:nvSpPr>
        <p:spPr>
          <a:xfrm>
            <a:off x="5936407" y="5052913"/>
            <a:ext cx="318881" cy="318889"/>
          </a:xfrm>
          <a:prstGeom prst="roundRect">
            <a:avLst>
              <a:gd fmla="val 18672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2"/>
          <p:cNvSpPr/>
          <p:nvPr/>
        </p:nvSpPr>
        <p:spPr>
          <a:xfrm>
            <a:off x="5989537" y="5079454"/>
            <a:ext cx="212620" cy="265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650"/>
              <a:buFont typeface="Raleway"/>
              <a:buNone/>
            </a:pPr>
            <a:r>
              <a:rPr b="0" i="0" lang="en-US" sz="16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6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6804649" y="5101630"/>
            <a:ext cx="472557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50"/>
              <a:buFont typeface="Raleway"/>
              <a:buNone/>
            </a:pPr>
            <a:r>
              <a:rPr b="0" i="0" lang="en-US" sz="13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Phase 6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6804649" y="5386784"/>
            <a:ext cx="472557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Predictive Analytics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ML-powered revenue forecasting and workload predictions.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10959325" y="6527350"/>
            <a:ext cx="1171800" cy="287100"/>
          </a:xfrm>
          <a:prstGeom prst="rect">
            <a:avLst/>
          </a:prstGeom>
          <a:solidFill>
            <a:srgbClr val="FEFE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"/>
          <p:cNvSpPr/>
          <p:nvPr/>
        </p:nvSpPr>
        <p:spPr>
          <a:xfrm>
            <a:off x="661475" y="1098252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700"/>
              <a:buFont typeface="Raleway"/>
              <a:buNone/>
            </a:pPr>
            <a:r>
              <a:rPr b="0" i="0" lang="en-US" sz="37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Conclusion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3"/>
          <p:cNvSpPr/>
          <p:nvPr/>
        </p:nvSpPr>
        <p:spPr>
          <a:xfrm>
            <a:off x="661475" y="2066925"/>
            <a:ext cx="10868745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FreelanceFlow AI demonstrates how </a:t>
            </a:r>
            <a:r>
              <a:rPr b="1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Artificial Intelligence combined with Workflow Automation</a:t>
            </a: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can fully automate the freelance business lifecycle — from lead to payment — freeing freelancers to focus on what matters most: </a:t>
            </a:r>
            <a:r>
              <a:rPr b="1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delivering exceptional work.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3"/>
          <p:cNvSpPr/>
          <p:nvPr/>
        </p:nvSpPr>
        <p:spPr>
          <a:xfrm>
            <a:off x="661475" y="2884388"/>
            <a:ext cx="10868745" cy="685998"/>
          </a:xfrm>
          <a:prstGeom prst="roundRect">
            <a:avLst>
              <a:gd fmla="val 11573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3"/>
          <p:cNvSpPr/>
          <p:nvPr/>
        </p:nvSpPr>
        <p:spPr>
          <a:xfrm>
            <a:off x="667825" y="2890738"/>
            <a:ext cx="3618616" cy="673298"/>
          </a:xfrm>
          <a:custGeom>
            <a:rect b="b" l="l" r="r" t="t"/>
            <a:pathLst>
              <a:path extrusionOk="0" h="673298" w="3618616">
                <a:moveTo>
                  <a:pt x="66156" y="0"/>
                </a:moveTo>
                <a:lnTo>
                  <a:pt x="3618616" y="0"/>
                </a:lnTo>
                <a:lnTo>
                  <a:pt x="3618616" y="673298"/>
                </a:lnTo>
                <a:lnTo>
                  <a:pt x="66156" y="673298"/>
                </a:lnTo>
                <a:cubicBezTo>
                  <a:pt x="29619" y="673298"/>
                  <a:pt x="0" y="643678"/>
                  <a:pt x="0" y="607140"/>
                </a:cubicBezTo>
                <a:lnTo>
                  <a:pt x="0" y="66158"/>
                </a:lnTo>
                <a:cubicBezTo>
                  <a:pt x="0" y="29620"/>
                  <a:pt x="29619" y="0"/>
                  <a:pt x="66156" y="0"/>
                </a:cubicBezTo>
                <a:close/>
              </a:path>
            </a:pathLst>
          </a:cu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3"/>
          <p:cNvSpPr/>
          <p:nvPr/>
        </p:nvSpPr>
        <p:spPr>
          <a:xfrm>
            <a:off x="856832" y="3079750"/>
            <a:ext cx="324060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Raleway"/>
              <a:buNone/>
            </a:pPr>
            <a:r>
              <a:rPr b="0" i="0" lang="en-US" sz="185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🎓</a:t>
            </a:r>
            <a:r>
              <a:rPr b="0" i="0" lang="en-US" sz="18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 University Evaluation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3"/>
          <p:cNvSpPr/>
          <p:nvPr/>
        </p:nvSpPr>
        <p:spPr>
          <a:xfrm>
            <a:off x="4286440" y="2890738"/>
            <a:ext cx="3618715" cy="673298"/>
          </a:xfrm>
          <a:prstGeom prst="rect">
            <a:avLst/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3"/>
          <p:cNvSpPr/>
          <p:nvPr/>
        </p:nvSpPr>
        <p:spPr>
          <a:xfrm>
            <a:off x="4286440" y="2890738"/>
            <a:ext cx="25399" cy="673298"/>
          </a:xfrm>
          <a:prstGeom prst="roundRect">
            <a:avLst>
              <a:gd fmla="val 50001" name="adj"/>
            </a:avLst>
          </a:prstGeom>
          <a:solidFill>
            <a:srgbClr val="C7C7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3"/>
          <p:cNvSpPr/>
          <p:nvPr/>
        </p:nvSpPr>
        <p:spPr>
          <a:xfrm>
            <a:off x="4475447" y="3079750"/>
            <a:ext cx="324070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Raleway"/>
              <a:buNone/>
            </a:pPr>
            <a:r>
              <a:rPr b="0" i="0" lang="en-US" sz="185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🔬</a:t>
            </a:r>
            <a:r>
              <a:rPr b="0" i="0" lang="en-US" sz="18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 Technical Viva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3"/>
          <p:cNvSpPr/>
          <p:nvPr/>
        </p:nvSpPr>
        <p:spPr>
          <a:xfrm>
            <a:off x="7905155" y="2890738"/>
            <a:ext cx="3618715" cy="673298"/>
          </a:xfrm>
          <a:custGeom>
            <a:rect b="b" l="l" r="r" t="t"/>
            <a:pathLst>
              <a:path extrusionOk="0" h="673298" w="3618715">
                <a:moveTo>
                  <a:pt x="0" y="0"/>
                </a:moveTo>
                <a:lnTo>
                  <a:pt x="3552558" y="0"/>
                </a:lnTo>
                <a:cubicBezTo>
                  <a:pt x="3570104" y="0"/>
                  <a:pt x="3586931" y="6970"/>
                  <a:pt x="3599337" y="19377"/>
                </a:cubicBezTo>
                <a:cubicBezTo>
                  <a:pt x="3611744" y="31784"/>
                  <a:pt x="3618714" y="48612"/>
                  <a:pt x="3618714" y="66158"/>
                </a:cubicBezTo>
                <a:lnTo>
                  <a:pt x="3618715" y="607140"/>
                </a:lnTo>
                <a:cubicBezTo>
                  <a:pt x="3618715" y="643678"/>
                  <a:pt x="3589096" y="673298"/>
                  <a:pt x="3552559" y="673298"/>
                </a:cubicBezTo>
                <a:lnTo>
                  <a:pt x="0" y="673298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3"/>
          <p:cNvSpPr/>
          <p:nvPr/>
        </p:nvSpPr>
        <p:spPr>
          <a:xfrm>
            <a:off x="7905155" y="2890738"/>
            <a:ext cx="25399" cy="673298"/>
          </a:xfrm>
          <a:prstGeom prst="roundRect">
            <a:avLst>
              <a:gd fmla="val 50001" name="adj"/>
            </a:avLst>
          </a:prstGeom>
          <a:solidFill>
            <a:srgbClr val="C7C7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3"/>
          <p:cNvSpPr/>
          <p:nvPr/>
        </p:nvSpPr>
        <p:spPr>
          <a:xfrm>
            <a:off x="8094162" y="3079750"/>
            <a:ext cx="324070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Raleway"/>
              <a:buNone/>
            </a:pPr>
            <a:r>
              <a:rPr b="0" i="0" lang="en-US" sz="185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🚀</a:t>
            </a:r>
            <a:r>
              <a:rPr b="0" i="0" lang="en-US" sz="18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 Startup Ready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3"/>
          <p:cNvSpPr/>
          <p:nvPr/>
        </p:nvSpPr>
        <p:spPr>
          <a:xfrm>
            <a:off x="661475" y="3830241"/>
            <a:ext cx="10868745" cy="25400"/>
          </a:xfrm>
          <a:prstGeom prst="roundRect">
            <a:avLst>
              <a:gd fmla="val 49999" name="adj"/>
            </a:avLst>
          </a:prstGeom>
          <a:solidFill>
            <a:srgbClr val="3C393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3"/>
          <p:cNvSpPr/>
          <p:nvPr/>
        </p:nvSpPr>
        <p:spPr>
          <a:xfrm>
            <a:off x="661475" y="4186337"/>
            <a:ext cx="10868745" cy="472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950"/>
              <a:buFont typeface="Raleway"/>
              <a:buNone/>
            </a:pPr>
            <a:r>
              <a:rPr b="0" i="0" lang="en-US" sz="29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Thank You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3"/>
          <p:cNvSpPr/>
          <p:nvPr/>
        </p:nvSpPr>
        <p:spPr>
          <a:xfrm>
            <a:off x="661475" y="4942284"/>
            <a:ext cx="10868745" cy="81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Questions are welcome.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165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1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Ashish Kumar</a:t>
            </a: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· B.Tech CSE (AI &amp; ML) · IIT Jammu Summer Internship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3"/>
          <p:cNvSpPr/>
          <p:nvPr/>
        </p:nvSpPr>
        <p:spPr>
          <a:xfrm>
            <a:off x="10959325" y="6527350"/>
            <a:ext cx="1171800" cy="287100"/>
          </a:xfrm>
          <a:prstGeom prst="rect">
            <a:avLst/>
          </a:prstGeom>
          <a:solidFill>
            <a:srgbClr val="FEFE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